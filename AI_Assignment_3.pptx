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Old Standard TT"/>
      <p:regular r:id="rId12"/>
      <p:bold r:id="rId13"/>
      <p:italic r:id="rId14"/>
    </p:embeddedFont>
    <p:embeddedFont>
      <p:font typeface="Roboto Mono"/>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OldStandardTT-bold.fntdata"/><Relationship Id="rId12" Type="http://schemas.openxmlformats.org/officeDocument/2006/relationships/font" Target="fonts/OldStandardTT-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Mono-regular.fntdata"/><Relationship Id="rId14" Type="http://schemas.openxmlformats.org/officeDocument/2006/relationships/font" Target="fonts/OldStandardTT-italic.fntdata"/><Relationship Id="rId17" Type="http://schemas.openxmlformats.org/officeDocument/2006/relationships/font" Target="fonts/RobotoMono-italic.fntdata"/><Relationship Id="rId16" Type="http://schemas.openxmlformats.org/officeDocument/2006/relationships/font" Target="fonts/RobotoMono-bold.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RobotoMono-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c6f90357f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c6f9035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c6f90357f_0_1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c6f90357f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4923aee40c_2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4923aee40c_2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c6f90357f_0_1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c6f90357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5327b400ea_6_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5327b400ea_6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5327b400ea_6_2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5327b400ea_6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1600"/>
              </a:spcBef>
              <a:spcAft>
                <a:spcPts val="0"/>
              </a:spcAft>
              <a:buClr>
                <a:schemeClr val="accent1"/>
              </a:buClr>
              <a:buSzPts val="1400"/>
              <a:buChar char="○"/>
              <a:defRPr>
                <a:solidFill>
                  <a:schemeClr val="accent1"/>
                </a:solidFill>
              </a:defRPr>
            </a:lvl2pPr>
            <a:lvl3pPr indent="-317500" lvl="2" marL="1371600">
              <a:spcBef>
                <a:spcPts val="1600"/>
              </a:spcBef>
              <a:spcAft>
                <a:spcPts val="0"/>
              </a:spcAft>
              <a:buClr>
                <a:schemeClr val="accent1"/>
              </a:buClr>
              <a:buSzPts val="1400"/>
              <a:buChar char="■"/>
              <a:defRPr>
                <a:solidFill>
                  <a:schemeClr val="accent1"/>
                </a:solidFill>
              </a:defRPr>
            </a:lvl3pPr>
            <a:lvl4pPr indent="-317500" lvl="3" marL="1828800">
              <a:spcBef>
                <a:spcPts val="1600"/>
              </a:spcBef>
              <a:spcAft>
                <a:spcPts val="0"/>
              </a:spcAft>
              <a:buClr>
                <a:schemeClr val="accent1"/>
              </a:buClr>
              <a:buSzPts val="1400"/>
              <a:buChar char="●"/>
              <a:defRPr>
                <a:solidFill>
                  <a:schemeClr val="accent1"/>
                </a:solidFill>
              </a:defRPr>
            </a:lvl4pPr>
            <a:lvl5pPr indent="-317500" lvl="4" marL="2286000">
              <a:spcBef>
                <a:spcPts val="1600"/>
              </a:spcBef>
              <a:spcAft>
                <a:spcPts val="0"/>
              </a:spcAft>
              <a:buClr>
                <a:schemeClr val="accent1"/>
              </a:buClr>
              <a:buSzPts val="1400"/>
              <a:buChar char="○"/>
              <a:defRPr>
                <a:solidFill>
                  <a:schemeClr val="accent1"/>
                </a:solidFill>
              </a:defRPr>
            </a:lvl5pPr>
            <a:lvl6pPr indent="-317500" lvl="5" marL="2743200">
              <a:spcBef>
                <a:spcPts val="1600"/>
              </a:spcBef>
              <a:spcAft>
                <a:spcPts val="0"/>
              </a:spcAft>
              <a:buClr>
                <a:schemeClr val="accent1"/>
              </a:buClr>
              <a:buSzPts val="1400"/>
              <a:buChar char="■"/>
              <a:defRPr>
                <a:solidFill>
                  <a:schemeClr val="accent1"/>
                </a:solidFill>
              </a:defRPr>
            </a:lvl6pPr>
            <a:lvl7pPr indent="-317500" lvl="6" marL="3200400">
              <a:spcBef>
                <a:spcPts val="1600"/>
              </a:spcBef>
              <a:spcAft>
                <a:spcPts val="0"/>
              </a:spcAft>
              <a:buClr>
                <a:schemeClr val="accent1"/>
              </a:buClr>
              <a:buSzPts val="1400"/>
              <a:buChar char="●"/>
              <a:defRPr>
                <a:solidFill>
                  <a:schemeClr val="accent1"/>
                </a:solidFill>
              </a:defRPr>
            </a:lvl7pPr>
            <a:lvl8pPr indent="-317500" lvl="7" marL="3657600">
              <a:spcBef>
                <a:spcPts val="1600"/>
              </a:spcBef>
              <a:spcAft>
                <a:spcPts val="0"/>
              </a:spcAft>
              <a:buClr>
                <a:schemeClr val="accent1"/>
              </a:buClr>
              <a:buSzPts val="1400"/>
              <a:buChar char="○"/>
              <a:defRPr>
                <a:solidFill>
                  <a:schemeClr val="accent1"/>
                </a:solidFill>
              </a:defRPr>
            </a:lvl8pPr>
            <a:lvl9pPr indent="-317500" lvl="8" marL="4114800">
              <a:spcBef>
                <a:spcPts val="1600"/>
              </a:spcBef>
              <a:spcAft>
                <a:spcPts val="160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2.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1.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AI Assignment 3</a:t>
            </a:r>
            <a:endParaRPr/>
          </a:p>
        </p:txBody>
      </p:sp>
      <p:sp>
        <p:nvSpPr>
          <p:cNvPr id="60" name="Google Shape;60;p13"/>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CS22B028 Johri Aniket Manish</a:t>
            </a:r>
            <a:endParaRPr sz="1500"/>
          </a:p>
          <a:p>
            <a:pPr indent="0" lvl="0" marL="0" rtl="0" algn="l">
              <a:spcBef>
                <a:spcPts val="0"/>
              </a:spcBef>
              <a:spcAft>
                <a:spcPts val="0"/>
              </a:spcAft>
              <a:buNone/>
            </a:pPr>
            <a:r>
              <a:rPr lang="en" sz="1500"/>
              <a:t>CS22B024 Harshit Garg</a:t>
            </a:r>
            <a:endParaRPr sz="1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265500" y="-185775"/>
            <a:ext cx="4045200" cy="1333200"/>
          </a:xfrm>
          <a:prstGeom prst="rect">
            <a:avLst/>
          </a:prstGeom>
        </p:spPr>
        <p:txBody>
          <a:bodyPr anchorCtr="0" anchor="b" bIns="91425" lIns="91425" spcFirstLastPara="1" rIns="91425" wrap="square" tIns="91425">
            <a:noAutofit/>
          </a:bodyPr>
          <a:lstStyle/>
          <a:p>
            <a:pPr indent="-406400" lvl="0" marL="457200" rtl="0" algn="ctr">
              <a:spcBef>
                <a:spcPts val="0"/>
              </a:spcBef>
              <a:spcAft>
                <a:spcPts val="0"/>
              </a:spcAft>
              <a:buSzPts val="2800"/>
              <a:buAutoNum type="arabicParenR"/>
            </a:pPr>
            <a:r>
              <a:rPr lang="en" sz="2800"/>
              <a:t>Minimax Algorithm for Chess</a:t>
            </a:r>
            <a:endParaRPr sz="2800"/>
          </a:p>
        </p:txBody>
      </p:sp>
      <p:sp>
        <p:nvSpPr>
          <p:cNvPr id="66" name="Google Shape;66;p14"/>
          <p:cNvSpPr txBox="1"/>
          <p:nvPr>
            <p:ph idx="1" type="subTitle"/>
          </p:nvPr>
        </p:nvSpPr>
        <p:spPr>
          <a:xfrm>
            <a:off x="265500" y="1026626"/>
            <a:ext cx="4045200" cy="134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t>
            </a:r>
            <a:endParaRPr/>
          </a:p>
        </p:txBody>
      </p:sp>
      <p:sp>
        <p:nvSpPr>
          <p:cNvPr id="67" name="Google Shape;67;p14"/>
          <p:cNvSpPr txBox="1"/>
          <p:nvPr>
            <p:ph idx="2" type="body"/>
          </p:nvPr>
        </p:nvSpPr>
        <p:spPr>
          <a:xfrm>
            <a:off x="4719775" y="204850"/>
            <a:ext cx="3939600" cy="336900"/>
          </a:xfrm>
          <a:prstGeom prst="rect">
            <a:avLst/>
          </a:prstGeom>
        </p:spPr>
        <p:txBody>
          <a:bodyPr anchorCtr="0" anchor="ctr" bIns="91425" lIns="91425" spcFirstLastPara="1" rIns="91425" wrap="square" tIns="91425">
            <a:noAutofit/>
          </a:bodyPr>
          <a:lstStyle/>
          <a:p>
            <a:pPr indent="0" lvl="0" marL="0" rtl="0" algn="l">
              <a:spcBef>
                <a:spcPts val="0"/>
              </a:spcBef>
              <a:spcAft>
                <a:spcPts val="1600"/>
              </a:spcAft>
              <a:buNone/>
            </a:pPr>
            <a:r>
              <a:rPr b="1" lang="en" sz="2450">
                <a:solidFill>
                  <a:srgbClr val="CDCDCD"/>
                </a:solidFill>
                <a:highlight>
                  <a:srgbClr val="101218"/>
                </a:highlight>
                <a:latin typeface="Arial"/>
                <a:ea typeface="Arial"/>
                <a:cs typeface="Arial"/>
                <a:sym typeface="Arial"/>
              </a:rPr>
              <a:t>Algorithm</a:t>
            </a:r>
            <a:endParaRPr b="1" sz="3200"/>
          </a:p>
        </p:txBody>
      </p:sp>
      <p:sp>
        <p:nvSpPr>
          <p:cNvPr id="68" name="Google Shape;68;p14"/>
          <p:cNvSpPr txBox="1"/>
          <p:nvPr/>
        </p:nvSpPr>
        <p:spPr>
          <a:xfrm>
            <a:off x="4639875" y="481825"/>
            <a:ext cx="4290000" cy="3879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accent1"/>
                </a:solidFill>
              </a:rPr>
              <a:t>This code implements the </a:t>
            </a:r>
            <a:r>
              <a:rPr b="1" lang="en" sz="1500">
                <a:solidFill>
                  <a:schemeClr val="accent1"/>
                </a:solidFill>
              </a:rPr>
              <a:t>Minimax algorithm</a:t>
            </a:r>
            <a:r>
              <a:rPr lang="en" sz="1500">
                <a:solidFill>
                  <a:schemeClr val="accent1"/>
                </a:solidFill>
              </a:rPr>
              <a:t> to determine the best move in a game of chess. It recursively explores all possible moves by simulating turns for both the player and the opponent. At each level of the tree, the algorithm assumes that the player chooses the move that maximizes their advantage, while the opponent selects the move that minimizes the player's advantage. The recursion continues until a terminal state is reached or a depth limit is applied. Each terminal node is assigned a score, and these scores propagate up the tree to determine the optimal move at the root. The algorithm ensures optimal decision-making by considering the best possible responses from the opponent at each step.</a:t>
            </a:r>
            <a:endParaRPr sz="1600">
              <a:solidFill>
                <a:schemeClr val="accent1"/>
              </a:solidFill>
              <a:latin typeface="Old Standard TT"/>
              <a:ea typeface="Old Standard TT"/>
              <a:cs typeface="Old Standard TT"/>
              <a:sym typeface="Old Standard TT"/>
            </a:endParaRPr>
          </a:p>
        </p:txBody>
      </p:sp>
      <p:sp>
        <p:nvSpPr>
          <p:cNvPr id="69" name="Google Shape;69;p14"/>
          <p:cNvSpPr txBox="1"/>
          <p:nvPr/>
        </p:nvSpPr>
        <p:spPr>
          <a:xfrm>
            <a:off x="4719775" y="2151813"/>
            <a:ext cx="2655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800">
              <a:solidFill>
                <a:schemeClr val="lt1"/>
              </a:solidFill>
              <a:latin typeface="Old Standard TT"/>
              <a:ea typeface="Old Standard TT"/>
              <a:cs typeface="Old Standard TT"/>
              <a:sym typeface="Old Standard TT"/>
            </a:endParaRPr>
          </a:p>
        </p:txBody>
      </p:sp>
      <p:sp>
        <p:nvSpPr>
          <p:cNvPr id="70" name="Google Shape;70;p14"/>
          <p:cNvSpPr txBox="1"/>
          <p:nvPr/>
        </p:nvSpPr>
        <p:spPr>
          <a:xfrm>
            <a:off x="4800225" y="2571750"/>
            <a:ext cx="39693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lt1"/>
              </a:solidFill>
              <a:latin typeface="Old Standard TT"/>
              <a:ea typeface="Old Standard TT"/>
              <a:cs typeface="Old Standard TT"/>
              <a:sym typeface="Old Standard TT"/>
            </a:endParaRPr>
          </a:p>
        </p:txBody>
      </p:sp>
      <p:pic>
        <p:nvPicPr>
          <p:cNvPr id="71" name="Google Shape;71;p14" title="minimax_chess_game.gif"/>
          <p:cNvPicPr preferRelativeResize="0"/>
          <p:nvPr/>
        </p:nvPicPr>
        <p:blipFill>
          <a:blip r:embed="rId3">
            <a:alphaModFix/>
          </a:blip>
          <a:stretch>
            <a:fillRect/>
          </a:stretch>
        </p:blipFill>
        <p:spPr>
          <a:xfrm>
            <a:off x="467025" y="1147425"/>
            <a:ext cx="3843675" cy="38436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ph type="title"/>
          </p:nvPr>
        </p:nvSpPr>
        <p:spPr>
          <a:xfrm>
            <a:off x="265500" y="-185775"/>
            <a:ext cx="4045200" cy="1333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300"/>
              <a:t>2) Alpha-Beta Pruning for Chess</a:t>
            </a:r>
            <a:endParaRPr sz="3100"/>
          </a:p>
        </p:txBody>
      </p:sp>
      <p:sp>
        <p:nvSpPr>
          <p:cNvPr id="77" name="Google Shape;77;p15"/>
          <p:cNvSpPr txBox="1"/>
          <p:nvPr>
            <p:ph idx="1" type="subTitle"/>
          </p:nvPr>
        </p:nvSpPr>
        <p:spPr>
          <a:xfrm>
            <a:off x="265500" y="1026626"/>
            <a:ext cx="4045200" cy="134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t>
            </a:r>
            <a:endParaRPr/>
          </a:p>
        </p:txBody>
      </p:sp>
      <p:sp>
        <p:nvSpPr>
          <p:cNvPr id="78" name="Google Shape;78;p15"/>
          <p:cNvSpPr txBox="1"/>
          <p:nvPr>
            <p:ph idx="2" type="body"/>
          </p:nvPr>
        </p:nvSpPr>
        <p:spPr>
          <a:xfrm>
            <a:off x="11122600" y="3175975"/>
            <a:ext cx="530100" cy="2451900"/>
          </a:xfrm>
          <a:prstGeom prst="rect">
            <a:avLst/>
          </a:prstGeom>
        </p:spPr>
        <p:txBody>
          <a:bodyPr anchorCtr="0" anchor="ctr" bIns="91425" lIns="91425" spcFirstLastPara="1" rIns="91425" wrap="square" tIns="91425">
            <a:noAutofit/>
          </a:bodyPr>
          <a:lstStyle/>
          <a:p>
            <a:pPr indent="0" lvl="0" marL="0" rtl="0" algn="l">
              <a:spcBef>
                <a:spcPts val="0"/>
              </a:spcBef>
              <a:spcAft>
                <a:spcPts val="1600"/>
              </a:spcAft>
              <a:buNone/>
            </a:pPr>
            <a:r>
              <a:t/>
            </a:r>
            <a:endParaRPr/>
          </a:p>
        </p:txBody>
      </p:sp>
      <p:sp>
        <p:nvSpPr>
          <p:cNvPr id="79" name="Google Shape;79;p15"/>
          <p:cNvSpPr txBox="1"/>
          <p:nvPr>
            <p:ph idx="2" type="body"/>
          </p:nvPr>
        </p:nvSpPr>
        <p:spPr>
          <a:xfrm>
            <a:off x="4795975" y="204850"/>
            <a:ext cx="3939600" cy="336900"/>
          </a:xfrm>
          <a:prstGeom prst="rect">
            <a:avLst/>
          </a:prstGeom>
        </p:spPr>
        <p:txBody>
          <a:bodyPr anchorCtr="0" anchor="ctr" bIns="91425" lIns="91425" spcFirstLastPara="1" rIns="91425" wrap="square" tIns="91425">
            <a:noAutofit/>
          </a:bodyPr>
          <a:lstStyle/>
          <a:p>
            <a:pPr indent="0" lvl="0" marL="0" rtl="0" algn="l">
              <a:spcBef>
                <a:spcPts val="0"/>
              </a:spcBef>
              <a:spcAft>
                <a:spcPts val="1600"/>
              </a:spcAft>
              <a:buNone/>
            </a:pPr>
            <a:r>
              <a:rPr b="1" lang="en" sz="2450">
                <a:solidFill>
                  <a:srgbClr val="CDCDCD"/>
                </a:solidFill>
                <a:highlight>
                  <a:srgbClr val="101218"/>
                </a:highlight>
                <a:latin typeface="Arial"/>
                <a:ea typeface="Arial"/>
                <a:cs typeface="Arial"/>
                <a:sym typeface="Arial"/>
              </a:rPr>
              <a:t>Algorithm</a:t>
            </a:r>
            <a:endParaRPr b="1" sz="3200"/>
          </a:p>
        </p:txBody>
      </p:sp>
      <p:sp>
        <p:nvSpPr>
          <p:cNvPr id="80" name="Google Shape;80;p15"/>
          <p:cNvSpPr txBox="1"/>
          <p:nvPr/>
        </p:nvSpPr>
        <p:spPr>
          <a:xfrm>
            <a:off x="4716075" y="481825"/>
            <a:ext cx="4290000" cy="364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accent1"/>
                </a:solidFill>
              </a:rPr>
              <a:t>This code implements the </a:t>
            </a:r>
            <a:r>
              <a:rPr b="1" lang="en" sz="1500">
                <a:solidFill>
                  <a:schemeClr val="accent1"/>
                </a:solidFill>
              </a:rPr>
              <a:t>Alpha-Beta Pruning</a:t>
            </a:r>
            <a:r>
              <a:rPr lang="en" sz="1500">
                <a:solidFill>
                  <a:schemeClr val="accent1"/>
                </a:solidFill>
              </a:rPr>
              <a:t> optimization for the Minimax algorithm in chess. It significantly reduces the number of nodes evaluated by eliminating branches that cannot possibly affect the final decision. The algorithm introduces two values: </a:t>
            </a:r>
            <a:r>
              <a:rPr b="1" lang="en" sz="1500">
                <a:solidFill>
                  <a:schemeClr val="accent1"/>
                </a:solidFill>
              </a:rPr>
              <a:t>alpha</a:t>
            </a:r>
            <a:r>
              <a:rPr lang="en" sz="1500">
                <a:solidFill>
                  <a:schemeClr val="accent1"/>
                </a:solidFill>
              </a:rPr>
              <a:t>, the best score that the maximizer can guarantee so far, and </a:t>
            </a:r>
            <a:r>
              <a:rPr b="1" lang="en" sz="1500">
                <a:solidFill>
                  <a:schemeClr val="accent1"/>
                </a:solidFill>
              </a:rPr>
              <a:t>beta</a:t>
            </a:r>
            <a:r>
              <a:rPr lang="en" sz="1500">
                <a:solidFill>
                  <a:schemeClr val="accent1"/>
                </a:solidFill>
              </a:rPr>
              <a:t>, the best score that the minimizer can guarantee. During the recursive evaluation, if the current node's value causes </a:t>
            </a:r>
            <a:r>
              <a:rPr b="1" lang="en" sz="1500">
                <a:solidFill>
                  <a:schemeClr val="accent1"/>
                </a:solidFill>
              </a:rPr>
              <a:t>alpha</a:t>
            </a:r>
            <a:r>
              <a:rPr lang="en" sz="1500">
                <a:solidFill>
                  <a:schemeClr val="accent1"/>
                </a:solidFill>
              </a:rPr>
              <a:t> to be greater than or equal to </a:t>
            </a:r>
            <a:r>
              <a:rPr b="1" lang="en" sz="1500">
                <a:solidFill>
                  <a:schemeClr val="accent1"/>
                </a:solidFill>
              </a:rPr>
              <a:t>beta</a:t>
            </a:r>
            <a:r>
              <a:rPr lang="en" sz="1500">
                <a:solidFill>
                  <a:schemeClr val="accent1"/>
                </a:solidFill>
              </a:rPr>
              <a:t>, the algorithm prunes that branch, as it will not be chosen by a rational player. This pruning improves efficiency without affecting the final result, allowing deeper searches in the same amount of time.</a:t>
            </a:r>
            <a:endParaRPr sz="1700">
              <a:solidFill>
                <a:schemeClr val="accent1"/>
              </a:solidFill>
              <a:latin typeface="Old Standard TT"/>
              <a:ea typeface="Old Standard TT"/>
              <a:cs typeface="Old Standard TT"/>
              <a:sym typeface="Old Standard TT"/>
            </a:endParaRPr>
          </a:p>
        </p:txBody>
      </p:sp>
      <p:sp>
        <p:nvSpPr>
          <p:cNvPr id="81" name="Google Shape;81;p15"/>
          <p:cNvSpPr txBox="1"/>
          <p:nvPr/>
        </p:nvSpPr>
        <p:spPr>
          <a:xfrm>
            <a:off x="4716075" y="2641638"/>
            <a:ext cx="2655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800">
              <a:solidFill>
                <a:schemeClr val="lt1"/>
              </a:solidFill>
              <a:latin typeface="Old Standard TT"/>
              <a:ea typeface="Old Standard TT"/>
              <a:cs typeface="Old Standard TT"/>
              <a:sym typeface="Old Standard TT"/>
            </a:endParaRPr>
          </a:p>
        </p:txBody>
      </p:sp>
      <p:sp>
        <p:nvSpPr>
          <p:cNvPr id="82" name="Google Shape;82;p15"/>
          <p:cNvSpPr txBox="1"/>
          <p:nvPr/>
        </p:nvSpPr>
        <p:spPr>
          <a:xfrm>
            <a:off x="4876425" y="3005400"/>
            <a:ext cx="39693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lt1"/>
              </a:solidFill>
              <a:latin typeface="Old Standard TT"/>
              <a:ea typeface="Old Standard TT"/>
              <a:cs typeface="Old Standard TT"/>
              <a:sym typeface="Old Standard TT"/>
            </a:endParaRPr>
          </a:p>
        </p:txBody>
      </p:sp>
      <p:pic>
        <p:nvPicPr>
          <p:cNvPr id="83" name="Google Shape;83;p15" title="alphabeta_chess_game.gif"/>
          <p:cNvPicPr preferRelativeResize="0"/>
          <p:nvPr/>
        </p:nvPicPr>
        <p:blipFill>
          <a:blip r:embed="rId3">
            <a:alphaModFix/>
          </a:blip>
          <a:stretch>
            <a:fillRect/>
          </a:stretch>
        </p:blipFill>
        <p:spPr>
          <a:xfrm>
            <a:off x="366263" y="1147425"/>
            <a:ext cx="3843675" cy="38436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800">
                <a:latin typeface="Arial"/>
                <a:ea typeface="Arial"/>
                <a:cs typeface="Arial"/>
                <a:sym typeface="Arial"/>
              </a:rPr>
              <a:t>Features of Chess</a:t>
            </a:r>
            <a:endParaRPr sz="4700"/>
          </a:p>
        </p:txBody>
      </p:sp>
      <p:sp>
        <p:nvSpPr>
          <p:cNvPr id="89" name="Google Shape;89;p16"/>
          <p:cNvSpPr txBox="1"/>
          <p:nvPr/>
        </p:nvSpPr>
        <p:spPr>
          <a:xfrm>
            <a:off x="357800" y="1393975"/>
            <a:ext cx="7685400" cy="36789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AutoNum type="arabicPeriod"/>
            </a:pPr>
            <a:r>
              <a:rPr b="1" lang="en" sz="1100">
                <a:solidFill>
                  <a:schemeClr val="dk1"/>
                </a:solidFill>
              </a:rPr>
              <a:t>Checkmate:</a:t>
            </a:r>
            <a:r>
              <a:rPr lang="en" sz="1100">
                <a:solidFill>
                  <a:schemeClr val="dk1"/>
                </a:solidFill>
              </a:rPr>
              <a:t> Returns ±infinity depending on the winner.</a:t>
            </a:r>
            <a:br>
              <a:rPr lang="en" sz="1100">
                <a:solidFill>
                  <a:schemeClr val="dk1"/>
                </a:solidFill>
              </a:rPr>
            </a:br>
            <a:endParaRPr sz="1100">
              <a:solidFill>
                <a:schemeClr val="dk1"/>
              </a:solidFill>
            </a:endParaRPr>
          </a:p>
          <a:p>
            <a:pPr indent="-298450" lvl="0" marL="457200" rtl="0" algn="l">
              <a:spcBef>
                <a:spcPts val="0"/>
              </a:spcBef>
              <a:spcAft>
                <a:spcPts val="0"/>
              </a:spcAft>
              <a:buSzPts val="1100"/>
              <a:buAutoNum type="arabicPeriod"/>
            </a:pPr>
            <a:r>
              <a:rPr b="1" lang="en" sz="1100">
                <a:solidFill>
                  <a:schemeClr val="dk1"/>
                </a:solidFill>
              </a:rPr>
              <a:t>Stalemate or Insufficient Material:</a:t>
            </a:r>
            <a:r>
              <a:rPr lang="en" sz="1100">
                <a:solidFill>
                  <a:schemeClr val="dk1"/>
                </a:solidFill>
              </a:rPr>
              <a:t> Returns </a:t>
            </a:r>
            <a:r>
              <a:rPr lang="en" sz="1100">
                <a:solidFill>
                  <a:srgbClr val="188038"/>
                </a:solidFill>
                <a:latin typeface="Roboto Mono"/>
                <a:ea typeface="Roboto Mono"/>
                <a:cs typeface="Roboto Mono"/>
                <a:sym typeface="Roboto Mono"/>
              </a:rPr>
              <a:t>0</a:t>
            </a:r>
            <a:r>
              <a:rPr lang="en" sz="1100">
                <a:solidFill>
                  <a:schemeClr val="dk1"/>
                </a:solidFill>
              </a:rPr>
              <a:t>.</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Considers the number of legal moves (mobility) for the side to move.</a:t>
            </a:r>
            <a:br>
              <a:rPr lang="en" sz="1100">
                <a:solidFill>
                  <a:schemeClr val="dk1"/>
                </a:solidFill>
              </a:rPr>
            </a:br>
            <a:endParaRPr sz="1100">
              <a:solidFill>
                <a:schemeClr val="dk1"/>
              </a:solidFill>
            </a:endParaRPr>
          </a:p>
          <a:p>
            <a:pPr indent="-298450" lvl="0" marL="457200" rtl="0" algn="l">
              <a:spcBef>
                <a:spcPts val="0"/>
              </a:spcBef>
              <a:spcAft>
                <a:spcPts val="0"/>
              </a:spcAft>
              <a:buSzPts val="1100"/>
              <a:buAutoNum type="arabicPeriod"/>
            </a:pPr>
            <a:r>
              <a:rPr lang="en" sz="1100">
                <a:solidFill>
                  <a:schemeClr val="dk1"/>
                </a:solidFill>
              </a:rPr>
              <a:t>Adds a small value (</a:t>
            </a:r>
            <a:r>
              <a:rPr lang="en" sz="1100">
                <a:solidFill>
                  <a:srgbClr val="188038"/>
                </a:solidFill>
                <a:latin typeface="Roboto Mono"/>
                <a:ea typeface="Roboto Mono"/>
                <a:cs typeface="Roboto Mono"/>
                <a:sym typeface="Roboto Mono"/>
              </a:rPr>
              <a:t>0.1 * mobility difference</a:t>
            </a:r>
            <a:r>
              <a:rPr lang="en" sz="1100">
                <a:solidFill>
                  <a:schemeClr val="dk1"/>
                </a:solidFill>
              </a:rPr>
              <a:t>) to encourage active play.</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298450" lvl="0" marL="457200" rtl="0" algn="l">
              <a:spcBef>
                <a:spcPts val="0"/>
              </a:spcBef>
              <a:spcAft>
                <a:spcPts val="0"/>
              </a:spcAft>
              <a:buSzPts val="1100"/>
              <a:buAutoNum type="arabicPeriod"/>
            </a:pPr>
            <a:r>
              <a:rPr lang="en" sz="1100">
                <a:solidFill>
                  <a:schemeClr val="dk1"/>
                </a:solidFill>
              </a:rPr>
              <a:t>Rewards occupation of key central squares (</a:t>
            </a:r>
            <a:r>
              <a:rPr lang="en" sz="1100">
                <a:solidFill>
                  <a:srgbClr val="188038"/>
                </a:solidFill>
                <a:latin typeface="Roboto Mono"/>
                <a:ea typeface="Roboto Mono"/>
                <a:cs typeface="Roboto Mono"/>
                <a:sym typeface="Roboto Mono"/>
              </a:rPr>
              <a:t>D4</a:t>
            </a:r>
            <a:r>
              <a:rPr lang="en" sz="1100">
                <a:solidFill>
                  <a:schemeClr val="dk1"/>
                </a:solidFill>
              </a:rPr>
              <a:t>, </a:t>
            </a:r>
            <a:r>
              <a:rPr lang="en" sz="1100">
                <a:solidFill>
                  <a:srgbClr val="188038"/>
                </a:solidFill>
                <a:latin typeface="Roboto Mono"/>
                <a:ea typeface="Roboto Mono"/>
                <a:cs typeface="Roboto Mono"/>
                <a:sym typeface="Roboto Mono"/>
              </a:rPr>
              <a:t>D5</a:t>
            </a:r>
            <a:r>
              <a:rPr lang="en" sz="1100">
                <a:solidFill>
                  <a:schemeClr val="dk1"/>
                </a:solidFill>
              </a:rPr>
              <a:t>, </a:t>
            </a:r>
            <a:r>
              <a:rPr lang="en" sz="1100">
                <a:solidFill>
                  <a:srgbClr val="188038"/>
                </a:solidFill>
                <a:latin typeface="Roboto Mono"/>
                <a:ea typeface="Roboto Mono"/>
                <a:cs typeface="Roboto Mono"/>
                <a:sym typeface="Roboto Mono"/>
              </a:rPr>
              <a:t>E4</a:t>
            </a:r>
            <a:r>
              <a:rPr lang="en" sz="1100">
                <a:solidFill>
                  <a:schemeClr val="dk1"/>
                </a:solidFill>
              </a:rPr>
              <a:t>, </a:t>
            </a:r>
            <a:r>
              <a:rPr lang="en" sz="1100">
                <a:solidFill>
                  <a:srgbClr val="188038"/>
                </a:solidFill>
                <a:latin typeface="Roboto Mono"/>
                <a:ea typeface="Roboto Mono"/>
                <a:cs typeface="Roboto Mono"/>
                <a:sym typeface="Roboto Mono"/>
              </a:rPr>
              <a:t>E5</a:t>
            </a:r>
            <a:r>
              <a:rPr lang="en" sz="1100">
                <a:solidFill>
                  <a:schemeClr val="dk1"/>
                </a:solidFill>
              </a:rPr>
              <a:t>) with a small bonus.</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Penalizes doubled pawns (two or more pawns on the same file) for both sides.</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Checks how many enemy pieces can attack squares around the king.</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Applies a small penalty or bonus depending on threats around the king.</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Penalizes a side if it has lost castling rights (as a proxy for king safety and development).</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Rewards passed pawns (no opposing pawns blocking the file).</a:t>
            </a:r>
            <a:endParaRPr sz="1100">
              <a:solidFill>
                <a:schemeClr val="dk1"/>
              </a:solidFill>
            </a:endParaRPr>
          </a:p>
          <a:p>
            <a:pPr indent="0" lvl="0" marL="0" rtl="0" algn="l">
              <a:spcBef>
                <a:spcPts val="0"/>
              </a:spcBef>
              <a:spcAft>
                <a:spcPts val="0"/>
              </a:spcAft>
              <a:buNone/>
            </a:pPr>
            <a:r>
              <a:t/>
            </a:r>
            <a:endParaRPr sz="1800">
              <a:solidFill>
                <a:schemeClr val="dk1"/>
              </a:solidFill>
              <a:latin typeface="Old Standard TT"/>
              <a:ea typeface="Old Standard TT"/>
              <a:cs typeface="Old Standard TT"/>
              <a:sym typeface="Old Standard T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txBox="1"/>
          <p:nvPr>
            <p:ph type="title"/>
          </p:nvPr>
        </p:nvSpPr>
        <p:spPr>
          <a:xfrm>
            <a:off x="162625" y="-59600"/>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800">
                <a:latin typeface="Arial"/>
                <a:ea typeface="Arial"/>
                <a:cs typeface="Arial"/>
                <a:sym typeface="Arial"/>
              </a:rPr>
              <a:t>Features  of </a:t>
            </a:r>
            <a:r>
              <a:rPr b="1" lang="en" sz="2800">
                <a:latin typeface="Arial"/>
                <a:ea typeface="Arial"/>
                <a:cs typeface="Arial"/>
                <a:sym typeface="Arial"/>
              </a:rPr>
              <a:t>Alpha-Beta Pruning Algorithm</a:t>
            </a:r>
            <a:endParaRPr sz="4700"/>
          </a:p>
        </p:txBody>
      </p:sp>
      <p:sp>
        <p:nvSpPr>
          <p:cNvPr id="95" name="Google Shape;95;p17"/>
          <p:cNvSpPr txBox="1"/>
          <p:nvPr/>
        </p:nvSpPr>
        <p:spPr>
          <a:xfrm>
            <a:off x="237150" y="553600"/>
            <a:ext cx="7685400" cy="4934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AutoNum type="arabicPeriod"/>
            </a:pPr>
            <a:r>
              <a:rPr lang="en" sz="1100">
                <a:solidFill>
                  <a:schemeClr val="dk1"/>
                </a:solidFill>
              </a:rPr>
              <a:t>This is an optimized version of the minimax algorithm used for decision making in game trees (like chess).</a:t>
            </a:r>
            <a:br>
              <a:rPr lang="en" sz="1100">
                <a:solidFill>
                  <a:schemeClr val="dk1"/>
                </a:solidFill>
              </a:rPr>
            </a:br>
            <a:endParaRPr sz="1100">
              <a:solidFill>
                <a:schemeClr val="dk1"/>
              </a:solidFill>
            </a:endParaRPr>
          </a:p>
          <a:p>
            <a:pPr indent="-298450" lvl="0" marL="457200" rtl="0" algn="l">
              <a:spcBef>
                <a:spcPts val="0"/>
              </a:spcBef>
              <a:spcAft>
                <a:spcPts val="0"/>
              </a:spcAft>
              <a:buSzPts val="1100"/>
              <a:buAutoNum type="arabicPeriod"/>
            </a:pPr>
            <a:r>
              <a:rPr lang="en" sz="1100">
                <a:solidFill>
                  <a:schemeClr val="dk1"/>
                </a:solidFill>
              </a:rPr>
              <a:t>Efficiently eliminates branches that cannot possibly influence the final decision.</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Takes a </a:t>
            </a:r>
            <a:r>
              <a:rPr lang="en" sz="1100">
                <a:solidFill>
                  <a:srgbClr val="188038"/>
                </a:solidFill>
                <a:latin typeface="Roboto Mono"/>
                <a:ea typeface="Roboto Mono"/>
                <a:cs typeface="Roboto Mono"/>
                <a:sym typeface="Roboto Mono"/>
              </a:rPr>
              <a:t>depth</a:t>
            </a:r>
            <a:r>
              <a:rPr lang="en" sz="1100">
                <a:solidFill>
                  <a:schemeClr val="dk1"/>
                </a:solidFill>
              </a:rPr>
              <a:t> parameter to limit how far the tree is explored.</a:t>
            </a:r>
            <a:br>
              <a:rPr lang="en" sz="1100">
                <a:solidFill>
                  <a:schemeClr val="dk1"/>
                </a:solidFill>
              </a:rPr>
            </a:br>
            <a:endParaRPr sz="1100">
              <a:solidFill>
                <a:schemeClr val="dk1"/>
              </a:solidFill>
            </a:endParaRPr>
          </a:p>
          <a:p>
            <a:pPr indent="-298450" lvl="0" marL="457200" rtl="0" algn="l">
              <a:spcBef>
                <a:spcPts val="0"/>
              </a:spcBef>
              <a:spcAft>
                <a:spcPts val="0"/>
              </a:spcAft>
              <a:buSzPts val="1100"/>
              <a:buAutoNum type="arabicPeriod"/>
            </a:pPr>
            <a:r>
              <a:rPr lang="en" sz="1100">
                <a:solidFill>
                  <a:schemeClr val="dk1"/>
                </a:solidFill>
              </a:rPr>
              <a:t>Stops recursion and evaluates the board using </a:t>
            </a:r>
            <a:r>
              <a:rPr lang="en" sz="1100">
                <a:solidFill>
                  <a:srgbClr val="188038"/>
                </a:solidFill>
                <a:latin typeface="Roboto Mono"/>
                <a:ea typeface="Roboto Mono"/>
                <a:cs typeface="Roboto Mono"/>
                <a:sym typeface="Roboto Mono"/>
              </a:rPr>
              <a:t>evaluate_board</a:t>
            </a:r>
            <a:r>
              <a:rPr lang="en" sz="1100">
                <a:solidFill>
                  <a:schemeClr val="dk1"/>
                </a:solidFill>
              </a:rPr>
              <a:t> when </a:t>
            </a:r>
            <a:r>
              <a:rPr lang="en" sz="1100">
                <a:solidFill>
                  <a:srgbClr val="188038"/>
                </a:solidFill>
                <a:latin typeface="Roboto Mono"/>
                <a:ea typeface="Roboto Mono"/>
                <a:cs typeface="Roboto Mono"/>
                <a:sym typeface="Roboto Mono"/>
              </a:rPr>
              <a:t>depth == 0</a:t>
            </a:r>
            <a:r>
              <a:rPr lang="en" sz="1100">
                <a:solidFill>
                  <a:schemeClr val="dk1"/>
                </a:solidFill>
              </a:rPr>
              <a:t> or the game is over.</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298450" lvl="0" marL="457200" rtl="0" algn="l">
              <a:spcBef>
                <a:spcPts val="0"/>
              </a:spcBef>
              <a:spcAft>
                <a:spcPts val="0"/>
              </a:spcAft>
              <a:buSzPts val="1100"/>
              <a:buAutoNum type="arabicPeriod"/>
            </a:pPr>
            <a:r>
              <a:rPr lang="en" sz="1100">
                <a:solidFill>
                  <a:schemeClr val="dk1"/>
                </a:solidFill>
              </a:rPr>
              <a:t>Uses </a:t>
            </a:r>
            <a:r>
              <a:rPr lang="en" sz="1100">
                <a:solidFill>
                  <a:srgbClr val="188038"/>
                </a:solidFill>
                <a:latin typeface="Roboto Mono"/>
                <a:ea typeface="Roboto Mono"/>
                <a:cs typeface="Roboto Mono"/>
                <a:sym typeface="Roboto Mono"/>
              </a:rPr>
              <a:t>evaluate_board(board)</a:t>
            </a:r>
            <a:r>
              <a:rPr lang="en" sz="1100">
                <a:solidFill>
                  <a:schemeClr val="dk1"/>
                </a:solidFill>
              </a:rPr>
              <a:t> to assess leaf nodes, integrating your custom heuristic evaluation logic from the previous code.</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Generates and iterates over all </a:t>
            </a:r>
            <a:r>
              <a:rPr lang="en" sz="1100">
                <a:solidFill>
                  <a:srgbClr val="188038"/>
                </a:solidFill>
                <a:latin typeface="Roboto Mono"/>
                <a:ea typeface="Roboto Mono"/>
                <a:cs typeface="Roboto Mono"/>
                <a:sym typeface="Roboto Mono"/>
              </a:rPr>
              <a:t>legal_moves</a:t>
            </a:r>
            <a:r>
              <a:rPr lang="en" sz="1100">
                <a:solidFill>
                  <a:schemeClr val="dk1"/>
                </a:solidFill>
              </a:rPr>
              <a:t>.</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U</a:t>
            </a:r>
            <a:r>
              <a:rPr lang="en" sz="1100">
                <a:solidFill>
                  <a:schemeClr val="dk1"/>
                </a:solidFill>
              </a:rPr>
              <a:t>ses </a:t>
            </a:r>
            <a:r>
              <a:rPr lang="en" sz="1100">
                <a:solidFill>
                  <a:srgbClr val="188038"/>
                </a:solidFill>
                <a:latin typeface="Roboto Mono"/>
                <a:ea typeface="Roboto Mono"/>
                <a:cs typeface="Roboto Mono"/>
                <a:sym typeface="Roboto Mono"/>
              </a:rPr>
              <a:t>board.push(move)</a:t>
            </a:r>
            <a:r>
              <a:rPr lang="en" sz="1100">
                <a:solidFill>
                  <a:schemeClr val="dk1"/>
                </a:solidFill>
              </a:rPr>
              <a:t> and </a:t>
            </a:r>
            <a:r>
              <a:rPr lang="en" sz="1100">
                <a:solidFill>
                  <a:srgbClr val="188038"/>
                </a:solidFill>
                <a:latin typeface="Roboto Mono"/>
                <a:ea typeface="Roboto Mono"/>
                <a:cs typeface="Roboto Mono"/>
                <a:sym typeface="Roboto Mono"/>
              </a:rPr>
              <a:t>board.pop()</a:t>
            </a:r>
            <a:r>
              <a:rPr lang="en" sz="1100">
                <a:solidFill>
                  <a:schemeClr val="dk1"/>
                </a:solidFill>
              </a:rPr>
              <a:t> to simulate moves and backtrack.</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Implements standard alternating max/min logic:</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Maximizing player</a:t>
            </a:r>
            <a:r>
              <a:rPr lang="en" sz="1100">
                <a:solidFill>
                  <a:schemeClr val="dk1"/>
                </a:solidFill>
              </a:rPr>
              <a:t> tries to maximize the evaluation.</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Minimizing player</a:t>
            </a:r>
            <a:r>
              <a:rPr lang="en" sz="1100">
                <a:solidFill>
                  <a:schemeClr val="dk1"/>
                </a:solidFill>
              </a:rPr>
              <a:t> tries to minimize the evaluation.</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 sz="1100">
                <a:solidFill>
                  <a:schemeClr val="dk1"/>
                </a:solidFill>
              </a:rPr>
              <a:t>Alpha</a:t>
            </a:r>
            <a:r>
              <a:rPr lang="en" sz="1100">
                <a:solidFill>
                  <a:schemeClr val="dk1"/>
                </a:solidFill>
              </a:rPr>
              <a:t>: Best score the maximizing player can guarantee.</a:t>
            </a:r>
            <a:br>
              <a:rPr lang="en" sz="1100">
                <a:solidFill>
                  <a:schemeClr val="dk1"/>
                </a:solidFill>
              </a:rPr>
            </a:br>
            <a:endParaRPr sz="1100">
              <a:solidFill>
                <a:schemeClr val="dk1"/>
              </a:solidFill>
            </a:endParaRPr>
          </a:p>
          <a:p>
            <a:pPr indent="0" lvl="0" marL="457200" rtl="0" algn="l">
              <a:spcBef>
                <a:spcPts val="0"/>
              </a:spcBef>
              <a:spcAft>
                <a:spcPts val="0"/>
              </a:spcAft>
              <a:buNone/>
            </a:pPr>
            <a:r>
              <a:rPr b="1" lang="en" sz="1100">
                <a:solidFill>
                  <a:schemeClr val="dk1"/>
                </a:solidFill>
              </a:rPr>
              <a:t>Beta</a:t>
            </a:r>
            <a:r>
              <a:rPr lang="en" sz="1100">
                <a:solidFill>
                  <a:schemeClr val="dk1"/>
                </a:solidFill>
              </a:rPr>
              <a:t>: Best score the minimizing player can guarantee.</a:t>
            </a:r>
            <a:br>
              <a:rPr lang="en" sz="1100">
                <a:solidFill>
                  <a:schemeClr val="dk1"/>
                </a:solidFill>
              </a:rPr>
            </a:br>
            <a:endParaRPr sz="1100">
              <a:solidFill>
                <a:schemeClr val="dk1"/>
              </a:solidFill>
            </a:endParaRPr>
          </a:p>
          <a:p>
            <a:pPr indent="0" lvl="0" marL="457200" rtl="0" algn="l">
              <a:spcBef>
                <a:spcPts val="0"/>
              </a:spcBef>
              <a:spcAft>
                <a:spcPts val="0"/>
              </a:spcAft>
              <a:buNone/>
            </a:pPr>
            <a:r>
              <a:rPr lang="en" sz="1100">
                <a:solidFill>
                  <a:schemeClr val="dk1"/>
                </a:solidFill>
              </a:rPr>
              <a:t>If </a:t>
            </a:r>
            <a:r>
              <a:rPr lang="en" sz="1100">
                <a:solidFill>
                  <a:srgbClr val="188038"/>
                </a:solidFill>
                <a:latin typeface="Roboto Mono"/>
                <a:ea typeface="Roboto Mono"/>
                <a:cs typeface="Roboto Mono"/>
                <a:sym typeface="Roboto Mono"/>
              </a:rPr>
              <a:t>beta &lt;= alpha</a:t>
            </a:r>
            <a:r>
              <a:rPr lang="en" sz="1100">
                <a:solidFill>
                  <a:schemeClr val="dk1"/>
                </a:solidFill>
              </a:rPr>
              <a:t>, the remaining moves are skipped (pruned), saving computation.</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800">
              <a:solidFill>
                <a:schemeClr val="dk1"/>
              </a:solidFill>
              <a:latin typeface="Old Standard TT"/>
              <a:ea typeface="Old Standard TT"/>
              <a:cs typeface="Old Standard TT"/>
              <a:sym typeface="Old Standard T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8"/>
          <p:cNvSpPr txBox="1"/>
          <p:nvPr>
            <p:ph type="title"/>
          </p:nvPr>
        </p:nvSpPr>
        <p:spPr>
          <a:xfrm>
            <a:off x="162625" y="-59600"/>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800">
                <a:latin typeface="Arial"/>
                <a:ea typeface="Arial"/>
                <a:cs typeface="Arial"/>
                <a:sym typeface="Arial"/>
              </a:rPr>
              <a:t>Features  of </a:t>
            </a:r>
            <a:r>
              <a:rPr b="1" lang="en" sz="2800">
                <a:latin typeface="Arial"/>
                <a:ea typeface="Arial"/>
                <a:cs typeface="Arial"/>
                <a:sym typeface="Arial"/>
              </a:rPr>
              <a:t>Minimax Algorithm</a:t>
            </a:r>
            <a:endParaRPr sz="4700"/>
          </a:p>
        </p:txBody>
      </p:sp>
      <p:sp>
        <p:nvSpPr>
          <p:cNvPr id="101" name="Google Shape;101;p18"/>
          <p:cNvSpPr txBox="1"/>
          <p:nvPr/>
        </p:nvSpPr>
        <p:spPr>
          <a:xfrm>
            <a:off x="237150" y="553600"/>
            <a:ext cx="7685400" cy="50379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AutoNum type="arabicPeriod"/>
            </a:pPr>
            <a:r>
              <a:rPr b="1" lang="en" sz="1100">
                <a:solidFill>
                  <a:schemeClr val="dk1"/>
                </a:solidFill>
              </a:rPr>
              <a:t>Purpose</a:t>
            </a:r>
            <a:r>
              <a:rPr lang="en" sz="1100">
                <a:solidFill>
                  <a:schemeClr val="dk1"/>
                </a:solidFill>
              </a:rPr>
              <a:t>: Simulates all possible moves up to a certain depth and assumes both players play optimally.</a:t>
            </a:r>
            <a:br>
              <a:rPr lang="en" sz="1100">
                <a:solidFill>
                  <a:schemeClr val="dk1"/>
                </a:solidFill>
              </a:rPr>
            </a:br>
            <a:endParaRPr sz="1100">
              <a:solidFill>
                <a:schemeClr val="dk1"/>
              </a:solidFill>
            </a:endParaRPr>
          </a:p>
          <a:p>
            <a:pPr indent="-298450" lvl="0" marL="457200" rtl="0" algn="l">
              <a:spcBef>
                <a:spcPts val="0"/>
              </a:spcBef>
              <a:spcAft>
                <a:spcPts val="0"/>
              </a:spcAft>
              <a:buSzPts val="1100"/>
              <a:buAutoNum type="arabicPeriod"/>
            </a:pPr>
            <a:r>
              <a:rPr lang="en" sz="1100">
                <a:solidFill>
                  <a:schemeClr val="dk1"/>
                </a:solidFill>
              </a:rPr>
              <a:t>Alternates between maximizing and minimizing players to simulate a complete game tree.</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Stops the recursive search when </a:t>
            </a:r>
            <a:r>
              <a:rPr lang="en" sz="1100">
                <a:solidFill>
                  <a:srgbClr val="188038"/>
                </a:solidFill>
                <a:latin typeface="Roboto Mono"/>
                <a:ea typeface="Roboto Mono"/>
                <a:cs typeface="Roboto Mono"/>
                <a:sym typeface="Roboto Mono"/>
              </a:rPr>
              <a:t>depth == 0</a:t>
            </a:r>
            <a:r>
              <a:rPr lang="en" sz="1100">
                <a:solidFill>
                  <a:schemeClr val="dk1"/>
                </a:solidFill>
              </a:rPr>
              <a:t> or the game is over.</a:t>
            </a:r>
            <a:br>
              <a:rPr lang="en" sz="1100">
                <a:solidFill>
                  <a:schemeClr val="dk1"/>
                </a:solidFill>
              </a:rPr>
            </a:br>
            <a:endParaRPr sz="1100">
              <a:solidFill>
                <a:schemeClr val="dk1"/>
              </a:solidFill>
            </a:endParaRPr>
          </a:p>
          <a:p>
            <a:pPr indent="-298450" lvl="0" marL="457200" rtl="0" algn="l">
              <a:spcBef>
                <a:spcPts val="0"/>
              </a:spcBef>
              <a:spcAft>
                <a:spcPts val="0"/>
              </a:spcAft>
              <a:buSzPts val="1100"/>
              <a:buAutoNum type="arabicPeriod"/>
            </a:pPr>
            <a:r>
              <a:rPr lang="en" sz="1100">
                <a:solidFill>
                  <a:schemeClr val="dk1"/>
                </a:solidFill>
              </a:rPr>
              <a:t>At that point, it uses your custom </a:t>
            </a:r>
            <a:r>
              <a:rPr lang="en" sz="1100">
                <a:solidFill>
                  <a:srgbClr val="188038"/>
                </a:solidFill>
                <a:latin typeface="Roboto Mono"/>
                <a:ea typeface="Roboto Mono"/>
                <a:cs typeface="Roboto Mono"/>
                <a:sym typeface="Roboto Mono"/>
              </a:rPr>
              <a:t>evaluate_board()</a:t>
            </a:r>
            <a:r>
              <a:rPr lang="en" sz="1100">
                <a:solidFill>
                  <a:schemeClr val="dk1"/>
                </a:solidFill>
              </a:rPr>
              <a:t> function to estimate the position's value.</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298450" lvl="0" marL="457200" rtl="0" algn="l">
              <a:spcBef>
                <a:spcPts val="0"/>
              </a:spcBef>
              <a:spcAft>
                <a:spcPts val="0"/>
              </a:spcAft>
              <a:buSzPts val="1100"/>
              <a:buAutoNum type="arabicPeriod"/>
            </a:pPr>
            <a:r>
              <a:rPr lang="en" sz="1100">
                <a:solidFill>
                  <a:schemeClr val="dk1"/>
                </a:solidFill>
              </a:rPr>
              <a:t>Retrieves all possible legal moves from the current board using </a:t>
            </a:r>
            <a:r>
              <a:rPr lang="en" sz="1100">
                <a:solidFill>
                  <a:srgbClr val="188038"/>
                </a:solidFill>
                <a:latin typeface="Roboto Mono"/>
                <a:ea typeface="Roboto Mono"/>
                <a:cs typeface="Roboto Mono"/>
                <a:sym typeface="Roboto Mono"/>
              </a:rPr>
              <a:t>list(board.legal_moves)</a:t>
            </a:r>
            <a:r>
              <a:rPr lang="en" sz="1100">
                <a:solidFill>
                  <a:schemeClr val="dk1"/>
                </a:solidFill>
              </a:rPr>
              <a:t>.</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 sz="1100">
                <a:solidFill>
                  <a:schemeClr val="dk1"/>
                </a:solidFill>
              </a:rPr>
              <a:t>Maximizing player</a:t>
            </a:r>
            <a:r>
              <a:rPr lang="en" sz="1100">
                <a:solidFill>
                  <a:schemeClr val="dk1"/>
                </a:solidFill>
              </a:rPr>
              <a:t> (typically White) tries to </a:t>
            </a:r>
            <a:r>
              <a:rPr b="1" lang="en" sz="1100">
                <a:solidFill>
                  <a:schemeClr val="dk1"/>
                </a:solidFill>
              </a:rPr>
              <a:t>maximize the score</a:t>
            </a:r>
            <a:r>
              <a:rPr lang="en" sz="1100">
                <a:solidFill>
                  <a:schemeClr val="dk1"/>
                </a:solidFill>
              </a:rPr>
              <a:t>.</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0" lvl="0" marL="457200" rtl="0" algn="l">
              <a:spcBef>
                <a:spcPts val="0"/>
              </a:spcBef>
              <a:spcAft>
                <a:spcPts val="0"/>
              </a:spcAft>
              <a:buNone/>
            </a:pPr>
            <a:r>
              <a:rPr b="1" lang="en" sz="1100">
                <a:solidFill>
                  <a:schemeClr val="dk1"/>
                </a:solidFill>
              </a:rPr>
              <a:t>Minimizing player</a:t>
            </a:r>
            <a:r>
              <a:rPr lang="en" sz="1100">
                <a:solidFill>
                  <a:schemeClr val="dk1"/>
                </a:solidFill>
              </a:rPr>
              <a:t> (typically Black) tries to </a:t>
            </a:r>
            <a:r>
              <a:rPr b="1" lang="en" sz="1100">
                <a:solidFill>
                  <a:schemeClr val="dk1"/>
                </a:solidFill>
              </a:rPr>
              <a:t>minimize the score</a:t>
            </a:r>
            <a:r>
              <a:rPr lang="en" sz="1100">
                <a:solidFill>
                  <a:schemeClr val="dk1"/>
                </a:solidFill>
              </a:rPr>
              <a:t>.</a:t>
            </a:r>
            <a:br>
              <a:rPr lang="en" sz="1100">
                <a:solidFill>
                  <a:schemeClr val="dk1"/>
                </a:solidFill>
              </a:rPr>
            </a:br>
            <a:endParaRPr sz="1100">
              <a:solidFill>
                <a:schemeClr val="dk1"/>
              </a:solidFill>
            </a:endParaRPr>
          </a:p>
          <a:p>
            <a:pPr indent="457200" lvl="0" marL="0" rtl="0" algn="l">
              <a:spcBef>
                <a:spcPts val="0"/>
              </a:spcBef>
              <a:spcAft>
                <a:spcPts val="0"/>
              </a:spcAft>
              <a:buNone/>
            </a:pPr>
            <a:r>
              <a:rPr lang="en" sz="1100">
                <a:solidFill>
                  <a:schemeClr val="dk1"/>
                </a:solidFill>
              </a:rPr>
              <a:t>Alternates with each recursive call.</a:t>
            </a:r>
            <a:endParaRPr sz="1100">
              <a:solidFill>
                <a:schemeClr val="dk1"/>
              </a:solidFill>
            </a:endParaRPr>
          </a:p>
          <a:p>
            <a:pPr indent="457200" lvl="0" marL="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Uses </a:t>
            </a:r>
            <a:r>
              <a:rPr lang="en" sz="1100">
                <a:solidFill>
                  <a:srgbClr val="188038"/>
                </a:solidFill>
                <a:latin typeface="Roboto Mono"/>
                <a:ea typeface="Roboto Mono"/>
                <a:cs typeface="Roboto Mono"/>
                <a:sym typeface="Roboto Mono"/>
              </a:rPr>
              <a:t>board.push(move)</a:t>
            </a:r>
            <a:r>
              <a:rPr lang="en" sz="1100">
                <a:solidFill>
                  <a:schemeClr val="dk1"/>
                </a:solidFill>
              </a:rPr>
              <a:t> to apply a move and </a:t>
            </a:r>
            <a:r>
              <a:rPr lang="en" sz="1100">
                <a:solidFill>
                  <a:srgbClr val="188038"/>
                </a:solidFill>
                <a:latin typeface="Roboto Mono"/>
                <a:ea typeface="Roboto Mono"/>
                <a:cs typeface="Roboto Mono"/>
                <a:sym typeface="Roboto Mono"/>
              </a:rPr>
              <a:t>board.pop()</a:t>
            </a:r>
            <a:r>
              <a:rPr lang="en" sz="1100">
                <a:solidFill>
                  <a:schemeClr val="dk1"/>
                </a:solidFill>
              </a:rPr>
              <a:t> to undo it.</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Ensures that the board state is correctly restored after each recursive evaluation.</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en" sz="1100">
                <a:solidFill>
                  <a:schemeClr val="dk1"/>
                </a:solidFill>
              </a:rPr>
              <a:t>Tracks the </a:t>
            </a:r>
            <a:r>
              <a:rPr b="1" lang="en" sz="1100">
                <a:solidFill>
                  <a:schemeClr val="dk1"/>
                </a:solidFill>
              </a:rPr>
              <a:t>maximum</a:t>
            </a:r>
            <a:r>
              <a:rPr lang="en" sz="1100">
                <a:solidFill>
                  <a:schemeClr val="dk1"/>
                </a:solidFill>
              </a:rPr>
              <a:t> evaluation for the maximizing player.</a:t>
            </a:r>
            <a:endParaRPr sz="1100">
              <a:solidFill>
                <a:schemeClr val="dk1"/>
              </a:solidFill>
            </a:endParaRPr>
          </a:p>
          <a:p>
            <a:pPr indent="0" lvl="0" marL="457200" rtl="0" algn="l">
              <a:lnSpc>
                <a:spcPct val="115000"/>
              </a:lnSpc>
              <a:spcBef>
                <a:spcPts val="1200"/>
              </a:spcBef>
              <a:spcAft>
                <a:spcPts val="0"/>
              </a:spcAft>
              <a:buNone/>
            </a:pPr>
            <a:r>
              <a:rPr lang="en" sz="1100">
                <a:solidFill>
                  <a:schemeClr val="dk1"/>
                </a:solidFill>
              </a:rPr>
              <a:t>Tracks the </a:t>
            </a:r>
            <a:r>
              <a:rPr b="1" lang="en" sz="1100">
                <a:solidFill>
                  <a:schemeClr val="dk1"/>
                </a:solidFill>
              </a:rPr>
              <a:t>minimum</a:t>
            </a:r>
            <a:r>
              <a:rPr lang="en" sz="1100">
                <a:solidFill>
                  <a:schemeClr val="dk1"/>
                </a:solidFill>
              </a:rPr>
              <a:t> evaluation for the minimizing player.</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800">
              <a:solidFill>
                <a:schemeClr val="dk1"/>
              </a:solidFill>
              <a:latin typeface="Old Standard TT"/>
              <a:ea typeface="Old Standard TT"/>
              <a:cs typeface="Old Standard TT"/>
              <a:sym typeface="Old Standard TT"/>
            </a:endParaRPr>
          </a:p>
        </p:txBody>
      </p:sp>
    </p:spTree>
  </p:cSld>
  <p:clrMapOvr>
    <a:masterClrMapping/>
  </p:clrMapOvr>
</p:sld>
</file>

<file path=ppt/theme/theme1.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